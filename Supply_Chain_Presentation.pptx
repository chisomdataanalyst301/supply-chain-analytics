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Ordered</c:v>
                </c:pt>
              </c:strCache>
            </c:strRef>
          </c:tx>
          <c:spPr>
            <a:solidFill>
              <a:srgbClr val="07857A"/>
            </a:solidFill>
            <a:ln w="31750" cap="flat">
              <a:solidFill>
                <a:srgbClr val="0785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7857A"/>
              </a:solidFill>
              <a:ln w="9525" cap="flat">
                <a:solidFill>
                  <a:srgbClr val="0785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Jan23</c:v>
                  </c:pt>
                  <c:pt idx="1">
                    <c:v>Feb23</c:v>
                  </c:pt>
                  <c:pt idx="2">
                    <c:v>Mar23</c:v>
                  </c:pt>
                  <c:pt idx="3">
                    <c:v>Apr23</c:v>
                  </c:pt>
                  <c:pt idx="4">
                    <c:v>May23</c:v>
                  </c:pt>
                  <c:pt idx="5">
                    <c:v>Jun23</c:v>
                  </c:pt>
                  <c:pt idx="6">
                    <c:v>Jul23</c:v>
                  </c:pt>
                  <c:pt idx="7">
                    <c:v>Aug23</c:v>
                  </c:pt>
                  <c:pt idx="8">
                    <c:v>Sep23</c:v>
                  </c:pt>
                  <c:pt idx="9">
                    <c:v>Oct23</c:v>
                  </c:pt>
                  <c:pt idx="10">
                    <c:v>Nov23</c:v>
                  </c:pt>
                  <c:pt idx="11">
                    <c:v>Dec23</c:v>
                  </c:pt>
                  <c:pt idx="12">
                    <c:v>Jan24</c:v>
                  </c:pt>
                  <c:pt idx="13">
                    <c:v>Feb24</c:v>
                  </c:pt>
                  <c:pt idx="14">
                    <c:v>Mar24</c:v>
                  </c:pt>
                  <c:pt idx="15">
                    <c:v>Apr24</c:v>
                  </c:pt>
                  <c:pt idx="16">
                    <c:v>May24</c:v>
                  </c:pt>
                  <c:pt idx="17">
                    <c:v>Jun24</c:v>
                  </c:pt>
                  <c:pt idx="18">
                    <c:v>Jul24</c:v>
                  </c:pt>
                  <c:pt idx="19">
                    <c:v>Aug24</c:v>
                  </c:pt>
                  <c:pt idx="20">
                    <c:v>Sep24</c:v>
                  </c:pt>
                  <c:pt idx="21">
                    <c:v>Oct24</c:v>
                  </c:pt>
                  <c:pt idx="22">
                    <c:v>Nov24</c:v>
                  </c:pt>
                  <c:pt idx="23">
                    <c:v>Dec24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2843</c:v>
                </c:pt>
                <c:pt idx="1">
                  <c:v>3145</c:v>
                </c:pt>
                <c:pt idx="2">
                  <c:v>4394</c:v>
                </c:pt>
                <c:pt idx="3">
                  <c:v>4470</c:v>
                </c:pt>
                <c:pt idx="4">
                  <c:v>5390</c:v>
                </c:pt>
                <c:pt idx="5">
                  <c:v>6054</c:v>
                </c:pt>
                <c:pt idx="6">
                  <c:v>5076</c:v>
                </c:pt>
                <c:pt idx="7">
                  <c:v>4743</c:v>
                </c:pt>
                <c:pt idx="8">
                  <c:v>3620</c:v>
                </c:pt>
                <c:pt idx="9">
                  <c:v>3222</c:v>
                </c:pt>
                <c:pt idx="10">
                  <c:v>2683</c:v>
                </c:pt>
                <c:pt idx="11">
                  <c:v>2595</c:v>
                </c:pt>
                <c:pt idx="12">
                  <c:v>3635</c:v>
                </c:pt>
                <c:pt idx="13">
                  <c:v>3059</c:v>
                </c:pt>
                <c:pt idx="14">
                  <c:v>4561</c:v>
                </c:pt>
                <c:pt idx="15">
                  <c:v>4623</c:v>
                </c:pt>
                <c:pt idx="16">
                  <c:v>6056</c:v>
                </c:pt>
                <c:pt idx="17">
                  <c:v>4819</c:v>
                </c:pt>
                <c:pt idx="18">
                  <c:v>5975</c:v>
                </c:pt>
                <c:pt idx="19">
                  <c:v>4304</c:v>
                </c:pt>
                <c:pt idx="20">
                  <c:v>4362</c:v>
                </c:pt>
                <c:pt idx="21">
                  <c:v>4112</c:v>
                </c:pt>
                <c:pt idx="22">
                  <c:v>3327</c:v>
                </c:pt>
                <c:pt idx="23">
                  <c:v>3282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5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6AE0"/>
              </a:solidFill>
              <a:effectLst/>
            </c:spPr>
          </c:dPt>
          <c:dPt>
            <c:idx val="1"/>
            <c:bubble3D val="0"/>
            <c:spPr>
              <a:solidFill>
                <a:srgbClr val="00C2A8"/>
              </a:solidFill>
              <a:effectLst/>
            </c:spPr>
          </c:dPt>
          <c:dPt>
            <c:idx val="2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bubble3D val="0"/>
            <c:spPr>
              <a:solidFill>
                <a:srgbClr val="EF5B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Food</c:v>
                </c:pt>
                <c:pt idx="1">
                  <c:v>Construction</c:v>
                </c:pt>
                <c:pt idx="2">
                  <c:v>Stationery</c:v>
                </c:pt>
                <c:pt idx="3">
                  <c:v>Healthcare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309.3</c:v>
                </c:pt>
                <c:pt idx="1">
                  <c:v>226.6</c:v>
                </c:pt>
                <c:pt idx="2">
                  <c:v>64.9</c:v>
                </c:pt>
                <c:pt idx="3">
                  <c:v>40.7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04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0785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0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785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5B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5B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LocalMart</c:v>
                  </c:pt>
                  <c:pt idx="1">
                    <c:v>PanAfrica</c:v>
                  </c:pt>
                  <c:pt idx="2">
                    <c:v>AgroFresh</c:v>
                  </c:pt>
                  <c:pt idx="3">
                    <c:v>EastTrade</c:v>
                  </c:pt>
                  <c:pt idx="4">
                    <c:v>MedTech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48.3</c:v>
                </c:pt>
                <c:pt idx="1">
                  <c:v>44.3</c:v>
                </c:pt>
                <c:pt idx="2">
                  <c:v>44.3</c:v>
                </c:pt>
                <c:pt idx="3">
                  <c:v>42</c:v>
                </c:pt>
                <c:pt idx="4">
                  <c:v>38.8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740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0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585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585"/>
                    </a:solidFill>
                    <a:latin typeface="Arial"/>
                  </a:rPr>
                  <a:t>On-time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Stockout Rate</c:v>
                </c:pt>
              </c:strCache>
            </c:strRef>
          </c:tx>
          <c:spPr>
            <a:solidFill>
              <a:srgbClr val="EF5B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740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5B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5B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785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785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7857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7857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SKU-A001</c:v>
                  </c:pt>
                  <c:pt idx="1">
                    <c:v>SKU-C001</c:v>
                  </c:pt>
                  <c:pt idx="2">
                    <c:v>SKU-A002</c:v>
                  </c:pt>
                  <c:pt idx="3">
                    <c:v>SKU-D002</c:v>
                  </c:pt>
                  <c:pt idx="4">
                    <c:v>SKU-B002</c:v>
                  </c:pt>
                  <c:pt idx="5">
                    <c:v>SKU-C002</c:v>
                  </c:pt>
                  <c:pt idx="6">
                    <c:v>SKU-D001</c:v>
                  </c:pt>
                  <c:pt idx="7">
                    <c:v>SKU-B001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1.3</c:v>
                </c:pt>
                <c:pt idx="1">
                  <c:v>1.2</c:v>
                </c:pt>
                <c:pt idx="2">
                  <c:v>0.8</c:v>
                </c:pt>
                <c:pt idx="3">
                  <c:v>0.8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740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0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585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585"/>
                    </a:solidFill>
                    <a:latin typeface="Arial"/>
                  </a:rPr>
                  <a:t>Stockout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E2A40"/>
            </a:solidFill>
            <a:prstDash val="solid"/>
          </a:ln>
        </p:spPr>
      </p:sp>
      <p:pic>
        <p:nvPicPr>
          <p:cNvPr id="15" name="Image 0" descr="/home/claude/icon_tmp/icon_0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778240" y="420624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Operations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22960" y="4160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performance, inventory, and supplier analytics across Nigeria — Lagos, Abuja, Port Harcourt, and Kano (2023–2024)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" y="5074920"/>
            <a:ext cx="18288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Chisom Precious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296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operational data to actionable optimization insights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7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simulates a real multi-warehouse retail supply chain operation, covering 2,000 orders across 8 product SKUs, 5 suppliers, and 4 warehouses over a two-year period.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was to build a complete analytics pipeline — from data generation and cleaning, through feature engineering, to optimization modeling and an interactive dashboard — mirroring how a real analytics team would approach a logistics cost and reliability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con_tmp/icon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4315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7365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519379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SKUs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048256" y="41605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home/claude/icon_tmp/icon_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43159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48256" y="47365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2048256" y="519379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456432" y="41605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/home/claude/icon_tmp/icon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4" y="431596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56432" y="47365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456432" y="519379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864608" y="4160520"/>
            <a:ext cx="1298448" cy="14173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/home/claude/icon_tmp/icon_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431596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64608" y="47365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4864608" y="519379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446520" y="1600200"/>
            <a:ext cx="5074920" cy="3977640"/>
          </a:xfrm>
          <a:prstGeom prst="roundRect">
            <a:avLst>
              <a:gd name="adj" fmla="val 229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76656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766560" y="2286000"/>
            <a:ext cx="292608" cy="29260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76656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223760" y="2258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 &amp; Understanding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766560" y="2816352"/>
            <a:ext cx="292608" cy="29260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766560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22376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Quality Checks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766560" y="3346704"/>
            <a:ext cx="292608" cy="29260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76656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223760" y="3319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766560" y="3877056"/>
            <a:ext cx="292608" cy="29260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76656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223760" y="38496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Modeling (EOQ, Safety Stock, Supplier Scoring)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766560" y="4407408"/>
            <a:ext cx="292608" cy="29260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766560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223760" y="43799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Visualization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6766560" y="4937760"/>
            <a:ext cx="292608" cy="29260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76656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7223760" y="4910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of operational performance at a glance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2587752" cy="45720"/>
          </a:xfrm>
          <a:prstGeom prst="rect">
            <a:avLst/>
          </a:prstGeom>
          <a:solidFill>
            <a:srgbClr val="6C6AE0"/>
          </a:solidFill>
          <a:ln/>
        </p:spPr>
      </p:sp>
      <p:pic>
        <p:nvPicPr>
          <p:cNvPr id="6" name="Image 0" descr="/home/claude/icon_tmp/icon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933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42032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641.5M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96112" y="320040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" y="35204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period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173736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737360"/>
            <a:ext cx="2587752" cy="45720"/>
          </a:xfrm>
          <a:prstGeom prst="rect">
            <a:avLst/>
          </a:prstGeom>
          <a:solidFill>
            <a:srgbClr val="00C2A8"/>
          </a:solidFill>
          <a:ln/>
        </p:spPr>
      </p:sp>
      <p:pic>
        <p:nvPicPr>
          <p:cNvPr id="12" name="Image 1" descr="/home/claude/icon_tmp/icon_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99339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2542032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685032" y="320040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85032" y="35204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warehouses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73736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737360"/>
            <a:ext cx="2587752" cy="45720"/>
          </a:xfrm>
          <a:prstGeom prst="rect">
            <a:avLst/>
          </a:prstGeom>
          <a:solidFill>
            <a:srgbClr val="EF5B6E"/>
          </a:solidFill>
          <a:ln/>
        </p:spPr>
      </p:sp>
      <p:pic>
        <p:nvPicPr>
          <p:cNvPr id="18" name="Image 2" descr="/home/claude/icon_tmp/icon_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99339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73952" y="2542032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56.2%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6473952" y="320040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Rate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needs action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006840" y="1737360"/>
            <a:ext cx="2587752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06840" y="1737360"/>
            <a:ext cx="2587752" cy="45720"/>
          </a:xfrm>
          <a:prstGeom prst="rect">
            <a:avLst/>
          </a:prstGeom>
          <a:solidFill>
            <a:srgbClr val="F2A93B"/>
          </a:solidFill>
          <a:ln/>
        </p:spPr>
      </p:sp>
      <p:pic>
        <p:nvPicPr>
          <p:cNvPr id="24" name="Image 3" descr="/home/claude/icon_tmp/icon_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199339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62872" y="2542032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0.6%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9262872" y="320040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262872" y="35204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SKU-A001 highest at 1.3%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0080" y="434340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121A2B"/>
          </a:solidFill>
          <a:ln/>
        </p:spPr>
      </p:sp>
      <p:pic>
        <p:nvPicPr>
          <p:cNvPr id="29" name="Image 4" descr="/home/claude/icon_tmp/icon_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36592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91640" y="457200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risk in this operation is reliability, not volume.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order volume are healthy, but more than half of all deliveries arrive late — this is the priority for the recommendations on the closing slide.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Demand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ordered per month — a consistent seasonal pattern emerges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006840" y="50749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con_tmp/icon_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5230368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0" y="5120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season: 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 demand runs 40–50% above baseline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breakdown across product categories (NGN millions)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1264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002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0" y="1901952"/>
            <a:ext cx="292608" cy="292608"/>
          </a:xfrm>
          <a:prstGeom prst="ellipse">
            <a:avLst/>
          </a:prstGeom>
          <a:solidFill>
            <a:srgbClr val="6C6AE0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0" y="1673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8952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total spend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50976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C6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 309.3M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903720" y="2679192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0" y="2980944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2752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589520" y="3136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total spend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509760" y="267919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 226.6M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903720" y="3758184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32320" y="4059936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520" y="3831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Stationery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589520" y="42153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total spend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509760" y="3758184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 64.9M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903720" y="4837176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132320" y="5138928"/>
            <a:ext cx="292608" cy="292608"/>
          </a:xfrm>
          <a:prstGeom prst="ellipse">
            <a:avLst/>
          </a:prstGeom>
          <a:solidFill>
            <a:srgbClr val="EF5B6E"/>
          </a:solidFill>
          <a:ln/>
        </p:spPr>
      </p:sp>
      <p:sp>
        <p:nvSpPr>
          <p:cNvPr id="22" name="Text 19"/>
          <p:cNvSpPr/>
          <p:nvPr/>
        </p:nvSpPr>
        <p:spPr>
          <a:xfrm>
            <a:off x="7589520" y="4910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589520" y="52943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of total spend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509760" y="4837176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F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 40.7M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Scorecard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score: 35% on-time · 25% avg delay · 20% lead-time variability · 20% cost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463040"/>
          <a:ext cx="5486400" cy="429768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005840"/>
                <a:gridCol w="91440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Supplier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Delay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72A"/>
                          </a:solidFill>
                        </a:rPr>
                        <a:t>LocalMart Wholesale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Nigeria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1.03d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7857A"/>
                          </a:solidFill>
                        </a:rPr>
                        <a:t>0.946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72A"/>
                          </a:solidFill>
                        </a:rPr>
                        <a:t>PanAfrica Supplies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Ghana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1.45d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</a:rPr>
                        <a:t>0.535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72A"/>
                          </a:solidFill>
                        </a:rPr>
                        <a:t>AgroFresh Ltd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Nigeria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1.37d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</a:rPr>
                        <a:t>0.405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72A"/>
                          </a:solidFill>
                        </a:rPr>
                        <a:t>EastTrade Corp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China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1.65d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5B6E"/>
                          </a:solidFill>
                        </a:rPr>
                        <a:t>0.332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72A"/>
                          </a:solidFill>
                        </a:rPr>
                        <a:t>MedTech Distributors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India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585"/>
                          </a:solidFill>
                        </a:rPr>
                        <a:t>1.72d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F5B6E"/>
                          </a:solidFill>
                        </a:rPr>
                        <a:t>0.190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 Rate by Product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orders where available inventory was insufficient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icon_tmp/icon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830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496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F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SKU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549640" y="26334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SKU-A001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54964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(50kg bag)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549640" y="3611880"/>
            <a:ext cx="2651760" cy="0"/>
          </a:xfrm>
          <a:prstGeom prst="line">
            <a:avLst/>
          </a:prstGeom>
          <a:noFill/>
          <a:ln w="12700">
            <a:solidFill>
              <a:srgbClr val="1E2A4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4964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F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20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— highest in the portfolio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units</a:t>
            </a:r>
            <a:endParaRPr lang="en-US" sz="20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safety stock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 units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reorder point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Model: EOQ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Order Quantity — the optimal order size that minimizes total inventory cost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0" cy="420624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EOQ = √(2DS / H)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Annual demand (units)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Ordering cost per order (NGN 5,000)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Holding cost per unit (20% of unit cost / year)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4846320"/>
            <a:ext cx="2377440" cy="0"/>
          </a:xfrm>
          <a:prstGeom prst="line">
            <a:avLst/>
          </a:prstGeom>
          <a:noFill/>
          <a:ln w="12700">
            <a:solidFill>
              <a:srgbClr val="1E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029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the cost of ordering too often against the cost of holding too much stock.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554480"/>
          <a:ext cx="7406640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737360"/>
                <a:gridCol w="1828800"/>
              </a:tblGrid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EOQ (units)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Reorder Cycle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SKU-A001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72A"/>
                          </a:solidFill>
                        </a:rPr>
                        <a:t>Rice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857A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every 8d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SKU-A002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72A"/>
                          </a:solidFill>
                        </a:rPr>
                        <a:t>Cooking Oil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857A"/>
                          </a:solidFill>
                        </a:rPr>
                        <a:t>221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every 12d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SKU-B001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72A"/>
                          </a:solidFill>
                        </a:rPr>
                        <a:t>Hand Sanitizer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857A"/>
                          </a:solidFill>
                        </a:rPr>
                        <a:t>431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every 23d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SKU-B002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72A"/>
                          </a:solidFill>
                        </a:rPr>
                        <a:t>Paracetamol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857A"/>
                          </a:solidFill>
                        </a:rPr>
                        <a:t>601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every 35d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SKU-C001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72A"/>
                          </a:solidFill>
                        </a:rPr>
                        <a:t>A4 Paper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857A"/>
                          </a:solidFill>
                        </a:rPr>
                        <a:t>302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every 17d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SKU-C002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72A"/>
                          </a:solidFill>
                        </a:rPr>
                        <a:t>Pens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857A"/>
                          </a:solidFill>
                        </a:rPr>
                        <a:t>484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every 31d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SKU-D001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72A"/>
                          </a:solidFill>
                        </a:rPr>
                        <a:t>Cement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857A"/>
                          </a:solidFill>
                        </a:rPr>
                        <a:t>237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every 14d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SKU-D002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72A"/>
                          </a:solidFill>
                        </a:rPr>
                        <a:t>Paint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7857A"/>
                          </a:solidFill>
                        </a:rPr>
                        <a:t>159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585"/>
                          </a:solidFill>
                        </a:rPr>
                        <a:t>every 9d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the analysis into decisions the business can act 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</p:spPr>
      </p:sp>
      <p:pic>
        <p:nvPicPr>
          <p:cNvPr id="5" name="Image 0" descr="/home/claude/icon_tmp/icon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013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F5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Delay Crisis First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56.2% of deliveries are late. Renegotiate SLAs with MedTech Distributors (61% delay rate) and introduce delay penalty clauses.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</p:spPr>
      </p:sp>
      <p:pic>
        <p:nvPicPr>
          <p:cNvPr id="9" name="Image 1" descr="/home/claude/icon_tmp/icon_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013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240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Pre-Position Stock for Peak Season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17720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rises 40–50% every May–July. Begin procurement in February–March to absorb supplier lead times ahead of the surge.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3816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</p:spPr>
      </p:sp>
      <p:pic>
        <p:nvPicPr>
          <p:cNvPr id="13" name="Image 2" descr="/home/claude/icon_tmp/icon_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80136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2240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Volume to Local Suppliers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366760" y="2743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LocalMart Wholesale delivers in ~4 days vs. 22 days for EastTrade Corp. Faster, more reliable local sourcing cuts required safety stock.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</p:spPr>
      </p:sp>
      <p:pic>
        <p:nvPicPr>
          <p:cNvPr id="17" name="Image 3" descr="/home/claude/icon_tmp/icon_1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9592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4434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C6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 Healthcare Shipments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68680" y="4937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eats 12.3% of Healthcare spend vs. 1.5% for Food. Apply EOQ batch sizes to cut order frequency and shipping cost.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38912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</p:spPr>
      </p:sp>
      <p:pic>
        <p:nvPicPr>
          <p:cNvPr id="21" name="Image 4" descr="/home/claude/icon_tmp/icon_1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99592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7720" y="4434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Reorder Point for SKU-A001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617720" y="4937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stockout rate in the portfolio (1.3%). Recommended safety stock of 165 units and reorder point of 466 units.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13816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B"/>
          </a:solidFill>
          <a:ln/>
        </p:spPr>
      </p:sp>
      <p:pic>
        <p:nvPicPr>
          <p:cNvPr id="25" name="Image 5" descr="/home/claude/icon_tmp/icon_1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995928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66760" y="4434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EOQ Discipline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366760" y="4937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currently placed reactively. Systematic EOQ batching is estimated to cut total inventory costs by 15–25% annually.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with Python, Jupyter, and Power BI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3575304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447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3959352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8313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4343400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2153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727448"/>
            <a:ext cx="109728" cy="10972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599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349240"/>
            <a:ext cx="18288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Chisom Precious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100" dirty="0"/>
          </a:p>
        </p:txBody>
      </p:sp>
      <p:pic>
        <p:nvPicPr>
          <p:cNvPr id="15" name="Image 0" descr="/home/claude/icon_tmp/icon_0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778240" y="420624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Operations Dashboard</dc:title>
  <dc:subject>PptxGenJS Presentation</dc:subject>
  <dc:creator>Chisom Precious</dc:creator>
  <cp:lastModifiedBy>Chisom Precious</cp:lastModifiedBy>
  <cp:revision>1</cp:revision>
  <dcterms:created xsi:type="dcterms:W3CDTF">2026-06-16T20:25:01Z</dcterms:created>
  <dcterms:modified xsi:type="dcterms:W3CDTF">2026-06-16T20:25:01Z</dcterms:modified>
</cp:coreProperties>
</file>